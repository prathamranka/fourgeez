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2" d="100"/>
          <a:sy n="52" d="100"/>
        </p:scale>
        <p:origin x="83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9034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35240" y="-1005840"/>
            <a:ext cx="5486400" cy="5486400"/>
          </a:xfrm>
          <a:prstGeom prst="ellipse">
            <a:avLst/>
          </a:prstGeom>
          <a:solidFill>
            <a:srgbClr val="122451">
              <a:alpha val="88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3154680"/>
            <a:ext cx="4754880" cy="4754880"/>
          </a:xfrm>
          <a:prstGeom prst="ellipse">
            <a:avLst/>
          </a:prstGeom>
          <a:solidFill>
            <a:srgbClr val="43132F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" y="1371600"/>
            <a:ext cx="1097280" cy="0"/>
          </a:xfrm>
          <a:prstGeom prst="line">
            <a:avLst/>
          </a:prstGeom>
          <a:noFill/>
          <a:ln w="38100">
            <a:solidFill>
              <a:srgbClr val="4B8DFF"/>
            </a:solidFill>
            <a:prstDash val="solid"/>
          </a:ln>
        </p:spPr>
      </p:sp>
      <p:pic>
        <p:nvPicPr>
          <p:cNvPr id="5" name="Image 0" descr="AgentPa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2920"/>
            <a:ext cx="566928" cy="56692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89888" y="69494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kern="0" spc="280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AGENTPAY</a:t>
            </a:r>
            <a:endParaRPr lang="en-US" sz="1300" dirty="0"/>
          </a:p>
        </p:txBody>
      </p:sp>
      <p:sp>
        <p:nvSpPr>
          <p:cNvPr id="7" name="slide-title"/>
          <p:cNvSpPr txBox="1"/>
          <p:nvPr/>
        </p:nvSpPr>
        <p:spPr>
          <a:xfrm>
            <a:off x="640080" y="1673352"/>
            <a:ext cx="777240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55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checkout layer</a:t>
            </a:r>
            <a:endParaRPr lang="en-US" sz="5500" dirty="0"/>
          </a:p>
          <a:p>
            <a:pPr marL="0" indent="0" algn="l">
              <a:buNone/>
            </a:pPr>
            <a:r>
              <a:rPr lang="en-US" sz="55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 AI agents.</a:t>
            </a:r>
            <a:endParaRPr lang="en-US" sz="5500" dirty="0"/>
          </a:p>
        </p:txBody>
      </p:sp>
      <p:sp>
        <p:nvSpPr>
          <p:cNvPr id="8" name="reveal-primary"/>
          <p:cNvSpPr txBox="1"/>
          <p:nvPr/>
        </p:nvSpPr>
        <p:spPr>
          <a:xfrm>
            <a:off x="667512" y="3520440"/>
            <a:ext cx="6629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Turn APIs and digital services into products that humans and agents can discover, pay for in USDC, and receive.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67512" y="4937760"/>
            <a:ext cx="1554480" cy="347472"/>
          </a:xfrm>
          <a:prstGeom prst="roundRect">
            <a:avLst>
              <a:gd name="adj" fmla="val 21053"/>
            </a:avLst>
          </a:prstGeom>
          <a:solidFill>
            <a:srgbClr val="88B7FF">
              <a:alpha val="18000"/>
            </a:srgbClr>
          </a:solidFill>
          <a:ln w="11430">
            <a:solidFill>
              <a:srgbClr val="88B7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" y="498348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70" dirty="0">
                <a:solidFill>
                  <a:srgbClr val="88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$1M PRE-SEED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359152" y="4937760"/>
            <a:ext cx="1874520" cy="347472"/>
          </a:xfrm>
          <a:prstGeom prst="roundRect">
            <a:avLst>
              <a:gd name="adj" fmla="val 21053"/>
            </a:avLst>
          </a:prstGeom>
          <a:solidFill>
            <a:srgbClr val="F34FA6">
              <a:alpha val="18000"/>
            </a:srgbClr>
          </a:solidFill>
          <a:ln w="11430">
            <a:solidFill>
              <a:srgbClr val="F34FA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432304" y="4983480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kern="0" spc="70" dirty="0">
                <a:solidFill>
                  <a:srgbClr val="F34F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SEPTEMBER 2026</a:t>
            </a:r>
            <a:endParaRPr lang="en-US" sz="950" dirty="0"/>
          </a:p>
        </p:txBody>
      </p:sp>
      <p:pic>
        <p:nvPicPr>
          <p:cNvPr id="13" name="cover-logo" descr="AgentPay logo"/>
          <p:cNvPicPr>
            <a:picLocks noChangeAspect="1"/>
          </p:cNvPicPr>
          <p:nvPr/>
        </p:nvPicPr>
        <p:blipFill>
          <a:blip r:embed="rId3">
            <a:alphaModFix amt="98000"/>
          </a:blip>
          <a:stretch>
            <a:fillRect/>
          </a:stretch>
        </p:blipFill>
        <p:spPr>
          <a:xfrm>
            <a:off x="8732520" y="1353312"/>
            <a:ext cx="2651760" cy="2651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622792" y="44348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kern="0" spc="120" dirty="0">
                <a:solidFill>
                  <a:srgbClr val="F1E9D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NEXT BUYER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kern="0" spc="120" dirty="0">
                <a:solidFill>
                  <a:srgbClr val="F1E9D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 SOFTWARE.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0" y="6665976"/>
            <a:ext cx="4069080" cy="192024"/>
          </a:xfrm>
          <a:prstGeom prst="rect">
            <a:avLst/>
          </a:prstGeom>
          <a:solidFill>
            <a:srgbClr val="4B8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069080" y="6665976"/>
            <a:ext cx="4069080" cy="192024"/>
          </a:xfrm>
          <a:prstGeom prst="rect">
            <a:avLst/>
          </a:prstGeom>
          <a:solidFill>
            <a:srgbClr val="F34F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38160" y="6665976"/>
            <a:ext cx="4050792" cy="192024"/>
          </a:xfrm>
          <a:prstGeom prst="rect">
            <a:avLst/>
          </a:prstGeom>
          <a:solidFill>
            <a:srgbClr val="FF7A2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6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8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and-logo" descr="AgentPa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256032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5528" y="32918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AGENTPAY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132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88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6473952"/>
            <a:ext cx="11247120" cy="0"/>
          </a:xfrm>
          <a:prstGeom prst="line">
            <a:avLst/>
          </a:prstGeom>
          <a:noFill/>
          <a:ln w="8255">
            <a:solidFill>
              <a:srgbClr val="292C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92840" y="651967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368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slide-title"/>
          <p:cNvSpPr txBox="1"/>
          <p:nvPr/>
        </p:nvSpPr>
        <p:spPr>
          <a:xfrm>
            <a:off x="457200" y="9875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APIs were built to be called. Not bought.</a:t>
            </a:r>
            <a:endParaRPr lang="en-US" sz="3700" dirty="0"/>
          </a:p>
        </p:txBody>
      </p:sp>
      <p:sp>
        <p:nvSpPr>
          <p:cNvPr id="8" name="hero-number"/>
          <p:cNvSpPr txBox="1"/>
          <p:nvPr/>
        </p:nvSpPr>
        <p:spPr>
          <a:xfrm>
            <a:off x="493776" y="1901952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88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$3–5T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2715768"/>
            <a:ext cx="3858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global consumer commerce could be orchestrated by AI agents by 2030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512064" y="39136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34F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24%</a:t>
            </a:r>
            <a:endParaRPr lang="en-US" sz="3400" dirty="0"/>
          </a:p>
        </p:txBody>
      </p:sp>
      <p:sp>
        <p:nvSpPr>
          <p:cNvPr id="11" name="Text 8"/>
          <p:cNvSpPr txBox="1"/>
          <p:nvPr/>
        </p:nvSpPr>
        <p:spPr>
          <a:xfrm>
            <a:off x="1956816" y="3941064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E7E4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developers build APIs for agents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21208" y="502920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Demand is arriving before commerce infrastructure.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5760720" y="2103120"/>
            <a:ext cx="0" cy="3474720"/>
          </a:xfrm>
          <a:prstGeom prst="line">
            <a:avLst/>
          </a:prstGeom>
          <a:noFill/>
          <a:ln w="19050">
            <a:solidFill>
              <a:srgbClr val="292C3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7568" y="2057400"/>
            <a:ext cx="146304" cy="146304"/>
          </a:xfrm>
          <a:prstGeom prst="ellipse">
            <a:avLst/>
          </a:prstGeom>
          <a:solidFill>
            <a:srgbClr val="4B8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62472" y="19385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80" dirty="0">
                <a:solidFill>
                  <a:srgbClr val="4B8D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DISCOVERY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315200" y="19202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does an agent find it?</a:t>
            </a:r>
            <a:endParaRPr lang="en-US" sz="1750" dirty="0"/>
          </a:p>
        </p:txBody>
      </p:sp>
      <p:sp>
        <p:nvSpPr>
          <p:cNvPr id="17" name="Shape 14"/>
          <p:cNvSpPr/>
          <p:nvPr/>
        </p:nvSpPr>
        <p:spPr>
          <a:xfrm>
            <a:off x="5687568" y="2807208"/>
            <a:ext cx="146304" cy="146304"/>
          </a:xfrm>
          <a:prstGeom prst="ellipse">
            <a:avLst/>
          </a:prstGeom>
          <a:solidFill>
            <a:srgbClr val="F34F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62472" y="26883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80" dirty="0">
                <a:solidFill>
                  <a:srgbClr val="F34F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QUOTE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7315200" y="2670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price is authoritative?</a:t>
            </a:r>
            <a:endParaRPr lang="en-US" sz="1750" dirty="0"/>
          </a:p>
        </p:txBody>
      </p:sp>
      <p:sp>
        <p:nvSpPr>
          <p:cNvPr id="20" name="Shape 17"/>
          <p:cNvSpPr/>
          <p:nvPr/>
        </p:nvSpPr>
        <p:spPr>
          <a:xfrm>
            <a:off x="5687568" y="3557016"/>
            <a:ext cx="146304" cy="146304"/>
          </a:xfrm>
          <a:prstGeom prst="ellipse">
            <a:avLst/>
          </a:prstGeom>
          <a:solidFill>
            <a:srgbClr val="FF7A2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62472" y="343814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80" dirty="0">
                <a:solidFill>
                  <a:srgbClr val="FF7A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PAYMENT</a:t>
            </a:r>
            <a:endParaRPr lang="en-US" sz="1050" dirty="0"/>
          </a:p>
        </p:txBody>
      </p:sp>
      <p:sp>
        <p:nvSpPr>
          <p:cNvPr id="22" name="Text 19"/>
          <p:cNvSpPr txBox="1"/>
          <p:nvPr/>
        </p:nvSpPr>
        <p:spPr>
          <a:xfrm>
            <a:off x="7315200" y="34198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does USDC clear safely?</a:t>
            </a:r>
            <a:endParaRPr lang="en-US" sz="1750" dirty="0"/>
          </a:p>
        </p:txBody>
      </p:sp>
      <p:sp>
        <p:nvSpPr>
          <p:cNvPr id="23" name="Shape 20"/>
          <p:cNvSpPr/>
          <p:nvPr/>
        </p:nvSpPr>
        <p:spPr>
          <a:xfrm>
            <a:off x="5687568" y="4306824"/>
            <a:ext cx="146304" cy="146304"/>
          </a:xfrm>
          <a:prstGeom prst="ellipse">
            <a:avLst/>
          </a:prstGeom>
          <a:solidFill>
            <a:srgbClr val="31D69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62472" y="418795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80" dirty="0">
                <a:solidFill>
                  <a:srgbClr val="31D6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DELIVERY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315200" y="416966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How is execution replay-safe?</a:t>
            </a:r>
            <a:endParaRPr lang="en-US" sz="1750" dirty="0"/>
          </a:p>
        </p:txBody>
      </p:sp>
      <p:sp>
        <p:nvSpPr>
          <p:cNvPr id="26" name="Shape 23"/>
          <p:cNvSpPr/>
          <p:nvPr/>
        </p:nvSpPr>
        <p:spPr>
          <a:xfrm>
            <a:off x="5687568" y="5056632"/>
            <a:ext cx="146304" cy="146304"/>
          </a:xfrm>
          <a:prstGeom prst="ellipse">
            <a:avLst/>
          </a:prstGeom>
          <a:solidFill>
            <a:srgbClr val="88B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062472" y="493776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80" dirty="0">
                <a:solidFill>
                  <a:srgbClr val="88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PROOF</a:t>
            </a:r>
            <a:endParaRPr lang="en-US" sz="1050" dirty="0"/>
          </a:p>
        </p:txBody>
      </p:sp>
      <p:sp>
        <p:nvSpPr>
          <p:cNvPr id="28" name="Text 25"/>
          <p:cNvSpPr txBox="1"/>
          <p:nvPr/>
        </p:nvSpPr>
        <p:spPr>
          <a:xfrm>
            <a:off x="7315200" y="491947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happened after payment?</a:t>
            </a:r>
            <a:endParaRPr lang="en-US" sz="175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6236208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368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Sources: McKinsey, The agentic commerce opportunity (2025); Postman, State of the API 2025.</a:t>
            </a:r>
            <a:endParaRPr lang="en-US" sz="7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8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and-logo" descr="AgentPa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256032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5528" y="32918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AGENTPAY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132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88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6473952"/>
            <a:ext cx="11247120" cy="0"/>
          </a:xfrm>
          <a:prstGeom prst="line">
            <a:avLst/>
          </a:prstGeom>
          <a:noFill/>
          <a:ln w="8255">
            <a:solidFill>
              <a:srgbClr val="292C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92840" y="651967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368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slide-title"/>
          <p:cNvSpPr txBox="1"/>
          <p:nvPr/>
        </p:nvSpPr>
        <p:spPr>
          <a:xfrm>
            <a:off x="457200" y="9875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integration creates two buyer channels.</a:t>
            </a:r>
            <a:endParaRPr lang="en-US" sz="37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1938528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30" dirty="0">
                <a:solidFill>
                  <a:srgbClr val="F34F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HUMAN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3042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Storefront</a:t>
            </a:r>
            <a:endParaRPr lang="en-US" sz="2500" dirty="0"/>
          </a:p>
          <a:p>
            <a:pPr marL="0" indent="0" algn="l">
              <a:buNone/>
            </a:pPr>
            <a:r>
              <a:rPr lang="en-US" sz="25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 wallet</a:t>
            </a:r>
            <a:endParaRPr lang="en-US" sz="2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4005072"/>
            <a:ext cx="1051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30" dirty="0">
                <a:solidFill>
                  <a:srgbClr val="FF7A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37083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Machine discovery</a:t>
            </a:r>
            <a:endParaRPr lang="en-US" sz="2300" dirty="0"/>
          </a:p>
          <a:p>
            <a:pPr marL="0" indent="0" algn="l">
              <a:buNone/>
            </a:pPr>
            <a:r>
              <a:rPr lang="en-US" sz="23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+ x402</a:t>
            </a:r>
            <a:endParaRPr lang="en-US" sz="2300" dirty="0"/>
          </a:p>
        </p:txBody>
      </p:sp>
      <p:sp>
        <p:nvSpPr>
          <p:cNvPr id="12" name="Shape 9"/>
          <p:cNvSpPr/>
          <p:nvPr/>
        </p:nvSpPr>
        <p:spPr>
          <a:xfrm>
            <a:off x="2743200" y="2670048"/>
            <a:ext cx="960120" cy="694944"/>
          </a:xfrm>
          <a:prstGeom prst="line">
            <a:avLst/>
          </a:prstGeom>
          <a:noFill/>
          <a:ln w="27940">
            <a:solidFill>
              <a:srgbClr val="F34FA6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2743200" y="4645152"/>
            <a:ext cx="960120" cy="0"/>
          </a:xfrm>
          <a:prstGeom prst="line">
            <a:avLst/>
          </a:prstGeom>
          <a:noFill/>
          <a:ln w="27940">
            <a:solidFill>
              <a:srgbClr val="FF7A22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8613648" y="3675888"/>
            <a:ext cx="969264" cy="0"/>
          </a:xfrm>
          <a:prstGeom prst="line">
            <a:avLst/>
          </a:prstGeom>
          <a:noFill/>
          <a:ln w="27940">
            <a:solidFill>
              <a:srgbClr val="31D69B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3685032" y="1993392"/>
            <a:ext cx="4937760" cy="3429000"/>
          </a:xfrm>
          <a:prstGeom prst="roundRect">
            <a:avLst>
              <a:gd name="adj" fmla="val 2133"/>
            </a:avLst>
          </a:prstGeom>
          <a:solidFill>
            <a:srgbClr val="101116"/>
          </a:solidFill>
          <a:ln w="13970">
            <a:solidFill>
              <a:srgbClr val="4B8D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685032" y="1993392"/>
            <a:ext cx="4937760" cy="109728"/>
          </a:xfrm>
          <a:prstGeom prst="rect">
            <a:avLst/>
          </a:prstGeom>
          <a:solidFill>
            <a:srgbClr val="4B8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17" name="Image 1" descr="AgentPa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648" y="2377440"/>
            <a:ext cx="512064" cy="512064"/>
          </a:xfrm>
          <a:prstGeom prst="rect">
            <a:avLst/>
          </a:prstGeom>
        </p:spPr>
      </p:pic>
      <p:sp>
        <p:nvSpPr>
          <p:cNvPr id="18" name="reveal-primary"/>
          <p:cNvSpPr txBox="1"/>
          <p:nvPr/>
        </p:nvSpPr>
        <p:spPr>
          <a:xfrm>
            <a:off x="4718304" y="238658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AgentPay</a:t>
            </a:r>
            <a:endParaRPr lang="en-US" sz="2500" dirty="0"/>
          </a:p>
        </p:txBody>
      </p:sp>
      <p:sp>
        <p:nvSpPr>
          <p:cNvPr id="19" name="Text 15"/>
          <p:cNvSpPr txBox="1"/>
          <p:nvPr/>
        </p:nvSpPr>
        <p:spPr>
          <a:xfrm>
            <a:off x="4078224" y="324612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8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Exact quote</a:t>
            </a:r>
            <a:endParaRPr lang="en-US" sz="1500" dirty="0"/>
          </a:p>
        </p:txBody>
      </p:sp>
      <p:sp>
        <p:nvSpPr>
          <p:cNvPr id="20" name="Text 16"/>
          <p:cNvSpPr txBox="1"/>
          <p:nvPr/>
        </p:nvSpPr>
        <p:spPr>
          <a:xfrm>
            <a:off x="5596128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34F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USDC settlement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7269480" y="324612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FF7A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Verified delivery</a:t>
            </a:r>
            <a:endParaRPr lang="en-US" sz="1500" dirty="0"/>
          </a:p>
        </p:txBody>
      </p:sp>
      <p:sp>
        <p:nvSpPr>
          <p:cNvPr id="22" name="Shape 18"/>
          <p:cNvSpPr/>
          <p:nvPr/>
        </p:nvSpPr>
        <p:spPr>
          <a:xfrm>
            <a:off x="4078224" y="3858768"/>
            <a:ext cx="4114800" cy="0"/>
          </a:xfrm>
          <a:prstGeom prst="line">
            <a:avLst/>
          </a:prstGeom>
          <a:noFill/>
          <a:ln w="12700">
            <a:solidFill>
              <a:srgbClr val="292C36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078224" y="41330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E7E4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Immutable intent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5833872" y="413308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dirty="0">
                <a:solidFill>
                  <a:srgbClr val="E7E4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Replay-safe execution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4078224" y="4645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Receipt  •  Evidence  •  Recovery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9820656" y="290779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30" dirty="0">
                <a:solidFill>
                  <a:srgbClr val="31D6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SELLER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9555480" y="3255264"/>
            <a:ext cx="18288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service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price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wallet</a:t>
            </a:r>
            <a:endParaRPr lang="en-US" sz="2200" dirty="0"/>
          </a:p>
        </p:txBody>
      </p:sp>
      <p:sp>
        <p:nvSpPr>
          <p:cNvPr id="28" name="Text 24"/>
          <p:cNvSpPr txBox="1"/>
          <p:nvPr/>
        </p:nvSpPr>
        <p:spPr>
          <a:xfrm>
            <a:off x="457200" y="6236208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368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Source: AgentPay product, architecture and API contracts, September 21, 2026.</a:t>
            </a:r>
            <a:endParaRPr lang="en-US" sz="7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8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and-logo" descr="AgentPa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256032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5528" y="32918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AGENTPAY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132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88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PRODUCT PROOF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6473952"/>
            <a:ext cx="11247120" cy="0"/>
          </a:xfrm>
          <a:prstGeom prst="line">
            <a:avLst/>
          </a:prstGeom>
          <a:noFill/>
          <a:ln w="8255">
            <a:solidFill>
              <a:srgbClr val="292C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92840" y="651967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368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slide-title"/>
          <p:cNvSpPr txBox="1"/>
          <p:nvPr/>
        </p:nvSpPr>
        <p:spPr>
          <a:xfrm>
            <a:off x="457200" y="9875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Built before the round.</a:t>
            </a:r>
            <a:endParaRPr lang="en-US" sz="4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664208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core commerce product exists. The round activates production payments and distribution.</a:t>
            </a:r>
            <a:endParaRPr lang="en-US" sz="1700" dirty="0"/>
          </a:p>
        </p:txBody>
      </p:sp>
      <p:sp>
        <p:nvSpPr>
          <p:cNvPr id="9" name="hero-number"/>
          <p:cNvSpPr txBox="1"/>
          <p:nvPr/>
        </p:nvSpPr>
        <p:spPr>
          <a:xfrm>
            <a:off x="530352" y="23957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4B8D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21</a:t>
            </a:r>
            <a:endParaRPr lang="en-US" sz="4500" dirty="0"/>
          </a:p>
        </p:txBody>
      </p:sp>
      <p:sp>
        <p:nvSpPr>
          <p:cNvPr id="10" name="Text 7"/>
          <p:cNvSpPr txBox="1"/>
          <p:nvPr/>
        </p:nvSpPr>
        <p:spPr>
          <a:xfrm>
            <a:off x="530352" y="31272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7E4D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maintained stack recipes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953512" y="2432304"/>
            <a:ext cx="0" cy="1216152"/>
          </a:xfrm>
          <a:prstGeom prst="line">
            <a:avLst/>
          </a:prstGeom>
          <a:noFill/>
          <a:ln w="12700">
            <a:solidFill>
              <a:srgbClr val="292C3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383280" y="23957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34F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</a:t>
            </a:r>
            <a:endParaRPr lang="en-US" sz="45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31272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7E4D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supported ecosystems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5806440" y="2432304"/>
            <a:ext cx="0" cy="1216152"/>
          </a:xfrm>
          <a:prstGeom prst="line">
            <a:avLst/>
          </a:prstGeom>
          <a:noFill/>
          <a:ln w="12700">
            <a:solidFill>
              <a:srgbClr val="292C3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36208" y="23957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F7A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4500" dirty="0"/>
          </a:p>
        </p:txBody>
      </p:sp>
      <p:sp>
        <p:nvSpPr>
          <p:cNvPr id="16" name="Text 13"/>
          <p:cNvSpPr txBox="1"/>
          <p:nvPr/>
        </p:nvSpPr>
        <p:spPr>
          <a:xfrm>
            <a:off x="6236208" y="31272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7E4D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buyer channels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659368" y="2432304"/>
            <a:ext cx="0" cy="1216152"/>
          </a:xfrm>
          <a:prstGeom prst="line">
            <a:avLst/>
          </a:prstGeom>
          <a:noFill/>
          <a:ln w="12700">
            <a:solidFill>
              <a:srgbClr val="292C3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089136" y="2395728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31D6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4500" dirty="0"/>
          </a:p>
        </p:txBody>
      </p:sp>
      <p:sp>
        <p:nvSpPr>
          <p:cNvPr id="19" name="Text 16"/>
          <p:cNvSpPr txBox="1"/>
          <p:nvPr/>
        </p:nvSpPr>
        <p:spPr>
          <a:xfrm>
            <a:off x="9089136" y="312724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7E4D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unified commerce ledger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30352" y="4096512"/>
            <a:ext cx="10972800" cy="0"/>
          </a:xfrm>
          <a:prstGeom prst="line">
            <a:avLst/>
          </a:prstGeom>
          <a:noFill/>
          <a:ln w="15240">
            <a:solidFill>
              <a:srgbClr val="292C3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30352" y="4645152"/>
            <a:ext cx="109728" cy="109728"/>
          </a:xfrm>
          <a:prstGeom prst="ellipse">
            <a:avLst/>
          </a:prstGeom>
          <a:solidFill>
            <a:srgbClr val="4B8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49808" y="44897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Signed machine discovery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291840" y="4645152"/>
            <a:ext cx="109728" cy="109728"/>
          </a:xfrm>
          <a:prstGeom prst="ellipse">
            <a:avLst/>
          </a:prstGeom>
          <a:solidFill>
            <a:srgbClr val="F34F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11296" y="44897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Exact-price x402 checkout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053328" y="4645152"/>
            <a:ext cx="109728" cy="109728"/>
          </a:xfrm>
          <a:prstGeom prst="ellipse">
            <a:avLst/>
          </a:prstGeom>
          <a:solidFill>
            <a:srgbClr val="FF7A2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72784" y="44897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Replay-safe fulfillment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8814816" y="4645152"/>
            <a:ext cx="109728" cy="109728"/>
          </a:xfrm>
          <a:prstGeom prst="ellipse">
            <a:avLst/>
          </a:prstGeom>
          <a:solidFill>
            <a:srgbClr val="31D69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034272" y="448970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Receipts, evidence and recovery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530352" y="5440680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101A31"/>
          </a:solidFill>
          <a:ln w="13970">
            <a:solidFill>
              <a:srgbClr val="4B8DF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58952" y="5577840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kern="0" spc="60" dirty="0">
                <a:solidFill>
                  <a:srgbClr val="88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NEXT MILESTONE  •  PRODUCTION USDC ACTIVATION + EXTERNAL SECURITY REVIEW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6236208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368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Source: AgentPay implementation, integration and release documentation, September 21, 2026.</a:t>
            </a:r>
            <a:endParaRPr lang="en-US" sz="7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and-logo" descr="AgentPa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256032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5528" y="32918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AGENTPAY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132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88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AGENTPAY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6473952"/>
            <a:ext cx="11247120" cy="0"/>
          </a:xfrm>
          <a:prstGeom prst="line">
            <a:avLst/>
          </a:prstGeom>
          <a:noFill/>
          <a:ln w="8255">
            <a:solidFill>
              <a:srgbClr val="292C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92840" y="651967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368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slide-title"/>
          <p:cNvSpPr txBox="1"/>
          <p:nvPr/>
        </p:nvSpPr>
        <p:spPr>
          <a:xfrm>
            <a:off x="457200" y="9875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Payment is a feature. Trust after payment is the moat.</a:t>
            </a:r>
            <a:endParaRPr lang="en-US" sz="3700" dirty="0"/>
          </a:p>
        </p:txBody>
      </p:sp>
      <p:sp>
        <p:nvSpPr>
          <p:cNvPr id="8" name="Text 5"/>
          <p:cNvSpPr txBox="1"/>
          <p:nvPr/>
        </p:nvSpPr>
        <p:spPr>
          <a:xfrm>
            <a:off x="493776" y="166420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transaction creates a verifiable chain from discovery to delivery.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2395728" y="3429000"/>
            <a:ext cx="475488" cy="0"/>
          </a:xfrm>
          <a:prstGeom prst="line">
            <a:avLst/>
          </a:prstGeom>
          <a:noFill/>
          <a:ln w="25400">
            <a:solidFill>
              <a:srgbClr val="292C36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4663440" y="3429000"/>
            <a:ext cx="475488" cy="0"/>
          </a:xfrm>
          <a:prstGeom prst="line">
            <a:avLst/>
          </a:prstGeom>
          <a:noFill/>
          <a:ln w="25400">
            <a:solidFill>
              <a:srgbClr val="292C36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6931152" y="3429000"/>
            <a:ext cx="475488" cy="0"/>
          </a:xfrm>
          <a:prstGeom prst="line">
            <a:avLst/>
          </a:prstGeom>
          <a:noFill/>
          <a:ln w="25400">
            <a:solidFill>
              <a:srgbClr val="292C36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9198864" y="3429000"/>
            <a:ext cx="475488" cy="0"/>
          </a:xfrm>
          <a:prstGeom prst="line">
            <a:avLst/>
          </a:prstGeom>
          <a:noFill/>
          <a:ln w="25400">
            <a:solidFill>
              <a:srgbClr val="292C36"/>
            </a:solidFill>
            <a:prstDash val="solid"/>
            <a:tailEnd type="triangle"/>
          </a:ln>
        </p:spPr>
      </p:sp>
      <p:sp>
        <p:nvSpPr>
          <p:cNvPr id="13" name="Text 10"/>
          <p:cNvSpPr txBox="1"/>
          <p:nvPr/>
        </p:nvSpPr>
        <p:spPr>
          <a:xfrm>
            <a:off x="493776" y="232257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8D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93776" y="270662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SIGNED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DISCOVERY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93776" y="36941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can be bought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493776" y="4279392"/>
            <a:ext cx="1691640" cy="0"/>
          </a:xfrm>
          <a:prstGeom prst="line">
            <a:avLst/>
          </a:prstGeom>
          <a:noFill/>
          <a:ln w="38100">
            <a:solidFill>
              <a:srgbClr val="4B8D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761488" y="232257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34F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2761488" y="270662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IMMUTABLE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QUOTE</a:t>
            </a:r>
            <a:endParaRPr lang="en-US" sz="2000" dirty="0"/>
          </a:p>
        </p:txBody>
      </p:sp>
      <p:sp>
        <p:nvSpPr>
          <p:cNvPr id="19" name="Text 16"/>
          <p:cNvSpPr txBox="1"/>
          <p:nvPr/>
        </p:nvSpPr>
        <p:spPr>
          <a:xfrm>
            <a:off x="2761488" y="36941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must be paid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2761488" y="4279392"/>
            <a:ext cx="1691640" cy="0"/>
          </a:xfrm>
          <a:prstGeom prst="line">
            <a:avLst/>
          </a:prstGeom>
          <a:noFill/>
          <a:ln w="38100">
            <a:solidFill>
              <a:srgbClr val="F34FA6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029200" y="232257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7A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0" y="270662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VERIFIED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SETTLEMENT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0" y="36941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Who paid what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5029200" y="4279392"/>
            <a:ext cx="1691640" cy="0"/>
          </a:xfrm>
          <a:prstGeom prst="line">
            <a:avLst/>
          </a:prstGeom>
          <a:noFill/>
          <a:ln w="38100">
            <a:solidFill>
              <a:srgbClr val="FF7A2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296912" y="232257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1D6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296912" y="270662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BOUND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EXECUTION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7296912" y="36941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may run once</a:t>
            </a:r>
            <a:endParaRPr lang="en-US" sz="1350" dirty="0"/>
          </a:p>
        </p:txBody>
      </p:sp>
      <p:sp>
        <p:nvSpPr>
          <p:cNvPr id="28" name="Shape 25"/>
          <p:cNvSpPr/>
          <p:nvPr/>
        </p:nvSpPr>
        <p:spPr>
          <a:xfrm>
            <a:off x="7296912" y="4279392"/>
            <a:ext cx="1691640" cy="0"/>
          </a:xfrm>
          <a:prstGeom prst="line">
            <a:avLst/>
          </a:prstGeom>
          <a:noFill/>
          <a:ln w="38100">
            <a:solidFill>
              <a:srgbClr val="31D69B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564624" y="232257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8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564624" y="2706624"/>
            <a:ext cx="1965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EVIDENCE +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RECOVERY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9564624" y="369417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 happened next</a:t>
            </a:r>
            <a:endParaRPr lang="en-US" sz="1350" dirty="0"/>
          </a:p>
        </p:txBody>
      </p:sp>
      <p:sp>
        <p:nvSpPr>
          <p:cNvPr id="32" name="Shape 29"/>
          <p:cNvSpPr/>
          <p:nvPr/>
        </p:nvSpPr>
        <p:spPr>
          <a:xfrm>
            <a:off x="9564624" y="4279392"/>
            <a:ext cx="1691640" cy="0"/>
          </a:xfrm>
          <a:prstGeom prst="line">
            <a:avLst/>
          </a:prstGeom>
          <a:noFill/>
          <a:ln w="38100">
            <a:solidFill>
              <a:srgbClr val="88B7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2064" y="49560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1E9D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Seller-controlled by design</a:t>
            </a:r>
            <a:endParaRPr lang="en-US" sz="2200" dirty="0"/>
          </a:p>
        </p:txBody>
      </p:sp>
      <p:sp>
        <p:nvSpPr>
          <p:cNvPr id="34" name="Text 31"/>
          <p:cNvSpPr txBox="1"/>
          <p:nvPr/>
        </p:nvSpPr>
        <p:spPr>
          <a:xfrm>
            <a:off x="3657600" y="490118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E7E4D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seller retains the service, authoritative price, payout wallet and customer relationship.</a:t>
            </a:r>
            <a:endParaRPr lang="en-US" sz="1700" dirty="0"/>
          </a:p>
        </p:txBody>
      </p:sp>
      <p:sp>
        <p:nvSpPr>
          <p:cNvPr id="35" name="Text 32"/>
          <p:cNvSpPr txBox="1"/>
          <p:nvPr/>
        </p:nvSpPr>
        <p:spPr>
          <a:xfrm>
            <a:off x="457200" y="6236208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368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Source: AgentPay security, data-model and transaction-state contracts, September 21, 2026.</a:t>
            </a:r>
            <a:endParaRPr lang="en-US" sz="7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and-logo" descr="AgentPa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256032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5528" y="32918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AGENTPAY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132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88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6473952"/>
            <a:ext cx="11247120" cy="0"/>
          </a:xfrm>
          <a:prstGeom prst="line">
            <a:avLst/>
          </a:prstGeom>
          <a:noFill/>
          <a:ln w="8255">
            <a:solidFill>
              <a:srgbClr val="292C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92840" y="651967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368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slide-title"/>
          <p:cNvSpPr txBox="1"/>
          <p:nvPr/>
        </p:nvSpPr>
        <p:spPr>
          <a:xfrm>
            <a:off x="457200" y="9875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SaaS wedge with transaction-scale upside.</a:t>
            </a:r>
            <a:endParaRPr lang="en-US" sz="37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66420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Buyer USDC settles directly to the seller. AgentPay monetizes software, usage and trust infrastructure.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30352" y="233172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8D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78992" y="228600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SUBSCRIPTION</a:t>
            </a:r>
            <a:endParaRPr lang="en-US" sz="1850" dirty="0"/>
          </a:p>
        </p:txBody>
      </p:sp>
      <p:sp>
        <p:nvSpPr>
          <p:cNvPr id="11" name="Text 8"/>
          <p:cNvSpPr txBox="1"/>
          <p:nvPr/>
        </p:nvSpPr>
        <p:spPr>
          <a:xfrm>
            <a:off x="2971800" y="230428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Launch plans create a low-friction seller wedge.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30352" y="2889504"/>
            <a:ext cx="6510528" cy="0"/>
          </a:xfrm>
          <a:prstGeom prst="line">
            <a:avLst/>
          </a:prstGeom>
          <a:noFill/>
          <a:ln w="10160">
            <a:solidFill>
              <a:srgbClr val="292C3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30352" y="333756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34F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1078992" y="329184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USAGE</a:t>
            </a:r>
            <a:endParaRPr lang="en-US" sz="1850" dirty="0"/>
          </a:p>
        </p:txBody>
      </p:sp>
      <p:sp>
        <p:nvSpPr>
          <p:cNvPr id="15" name="Text 12"/>
          <p:cNvSpPr txBox="1"/>
          <p:nvPr/>
        </p:nvSpPr>
        <p:spPr>
          <a:xfrm>
            <a:off x="2971800" y="33101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Successful-transaction metering expands with volume.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530352" y="3895344"/>
            <a:ext cx="6510528" cy="0"/>
          </a:xfrm>
          <a:prstGeom prst="line">
            <a:avLst/>
          </a:prstGeom>
          <a:noFill/>
          <a:ln w="10160">
            <a:solidFill>
              <a:srgbClr val="292C3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30352" y="4343400"/>
            <a:ext cx="438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7A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78992" y="429768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ENTERPRISE</a:t>
            </a:r>
            <a:endParaRPr lang="en-US" sz="1850" dirty="0"/>
          </a:p>
        </p:txBody>
      </p:sp>
      <p:sp>
        <p:nvSpPr>
          <p:cNvPr id="19" name="Text 16"/>
          <p:cNvSpPr txBox="1"/>
          <p:nvPr/>
        </p:nvSpPr>
        <p:spPr>
          <a:xfrm>
            <a:off x="2971800" y="431596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Higher limits, evidence and policy controls.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530352" y="4901184"/>
            <a:ext cx="6510528" cy="0"/>
          </a:xfrm>
          <a:prstGeom prst="line">
            <a:avLst/>
          </a:prstGeom>
          <a:noFill/>
          <a:ln w="10160">
            <a:solidFill>
              <a:srgbClr val="292C3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635240" y="2212848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101116"/>
          </a:solidFill>
          <a:ln w="13970">
            <a:solidFill>
              <a:srgbClr val="4B8D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973568" y="252374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kern="0" spc="120" dirty="0">
                <a:solidFill>
                  <a:srgbClr val="88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18-MONTH TARGET MODEL</a:t>
            </a:r>
            <a:endParaRPr lang="en-US" sz="1000" dirty="0"/>
          </a:p>
        </p:txBody>
      </p:sp>
      <p:sp>
        <p:nvSpPr>
          <p:cNvPr id="23" name="hero-number"/>
          <p:cNvSpPr txBox="1"/>
          <p:nvPr/>
        </p:nvSpPr>
        <p:spPr>
          <a:xfrm>
            <a:off x="7955280" y="2980944"/>
            <a:ext cx="1078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36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500</a:t>
            </a:r>
            <a:endParaRPr lang="en-US" sz="3600" dirty="0"/>
          </a:p>
        </p:txBody>
      </p:sp>
      <p:sp>
        <p:nvSpPr>
          <p:cNvPr id="24" name="Text 21"/>
          <p:cNvSpPr txBox="1"/>
          <p:nvPr/>
        </p:nvSpPr>
        <p:spPr>
          <a:xfrm>
            <a:off x="9125712" y="313639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sellers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0332720" y="3063240"/>
            <a:ext cx="320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687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×</a:t>
            </a:r>
            <a:endParaRPr lang="en-US" sz="2200" dirty="0"/>
          </a:p>
        </p:txBody>
      </p:sp>
      <p:sp>
        <p:nvSpPr>
          <p:cNvPr id="26" name="Text 23"/>
          <p:cNvSpPr txBox="1"/>
          <p:nvPr/>
        </p:nvSpPr>
        <p:spPr>
          <a:xfrm>
            <a:off x="10652760" y="2980944"/>
            <a:ext cx="6583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34F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$50</a:t>
            </a:r>
            <a:endParaRPr lang="en-US" sz="2900" dirty="0"/>
          </a:p>
        </p:txBody>
      </p:sp>
      <p:sp>
        <p:nvSpPr>
          <p:cNvPr id="27" name="Text 24"/>
          <p:cNvSpPr txBox="1"/>
          <p:nvPr/>
        </p:nvSpPr>
        <p:spPr>
          <a:xfrm>
            <a:off x="10588752" y="3575304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blended monthly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revenue / seller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8074152" y="4206240"/>
            <a:ext cx="3063240" cy="0"/>
          </a:xfrm>
          <a:prstGeom prst="line">
            <a:avLst/>
          </a:prstGeom>
          <a:noFill/>
          <a:ln w="12700">
            <a:solidFill>
              <a:srgbClr val="292C3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55280" y="4498848"/>
            <a:ext cx="34015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1D6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$25K MRR</a:t>
            </a:r>
            <a:endParaRPr lang="en-US" sz="3400" dirty="0"/>
          </a:p>
        </p:txBody>
      </p:sp>
      <p:sp>
        <p:nvSpPr>
          <p:cNvPr id="30" name="Text 27"/>
          <p:cNvSpPr txBox="1"/>
          <p:nvPr/>
        </p:nvSpPr>
        <p:spPr>
          <a:xfrm>
            <a:off x="7955280" y="4992624"/>
            <a:ext cx="34015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 — base subscription + usage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530352" y="557784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1E9D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Subscription lands the seller. Usage expands the account.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457200" y="6236208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368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Source: AgentPay product and billing contracts. Financial figures are forward-looking operating assumptions.</a:t>
            </a:r>
            <a:endParaRPr lang="en-US" sz="7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8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7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rand-logo" descr="AgentPa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2608"/>
            <a:ext cx="256032" cy="256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95528" y="329184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220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AGENTPAY</a:t>
            </a:r>
            <a:endParaRPr lang="en-US" sz="85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71323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80" dirty="0">
                <a:solidFill>
                  <a:srgbClr val="88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RAISE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57200" y="6473952"/>
            <a:ext cx="11247120" cy="0"/>
          </a:xfrm>
          <a:prstGeom prst="line">
            <a:avLst/>
          </a:prstGeom>
          <a:noFill/>
          <a:ln w="8255">
            <a:solidFill>
              <a:srgbClr val="292C3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292840" y="6519672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368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slide-title"/>
          <p:cNvSpPr txBox="1"/>
          <p:nvPr/>
        </p:nvSpPr>
        <p:spPr>
          <a:xfrm>
            <a:off x="457200" y="98755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$1M to activate production USDC.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62763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 months to launch USDC, prove demand and build distribution.</a:t>
            </a:r>
            <a:endParaRPr lang="en-US" sz="1500" dirty="0"/>
          </a:p>
        </p:txBody>
      </p:sp>
      <p:sp>
        <p:nvSpPr>
          <p:cNvPr id="9" name="hero-number"/>
          <p:cNvSpPr txBox="1"/>
          <p:nvPr/>
        </p:nvSpPr>
        <p:spPr>
          <a:xfrm>
            <a:off x="521208" y="2029968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88B7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$1M</a:t>
            </a:r>
            <a:endParaRPr lang="en-US" sz="44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26700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PRE-SEED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2487168" y="20848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F34F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18 months</a:t>
            </a:r>
            <a:endParaRPr lang="en-US" sz="2700" dirty="0"/>
          </a:p>
        </p:txBody>
      </p:sp>
      <p:sp>
        <p:nvSpPr>
          <p:cNvPr id="12" name="Text 9"/>
          <p:cNvSpPr txBox="1"/>
          <p:nvPr/>
        </p:nvSpPr>
        <p:spPr>
          <a:xfrm>
            <a:off x="2514600" y="25511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focused runway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48640" y="2999232"/>
            <a:ext cx="2571750" cy="91440"/>
          </a:xfrm>
          <a:prstGeom prst="rect">
            <a:avLst/>
          </a:prstGeom>
          <a:solidFill>
            <a:srgbClr val="4B8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136392"/>
            <a:ext cx="257175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4B8D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45% PRODUCT + SECURITY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3120390" y="2999232"/>
            <a:ext cx="1714500" cy="91440"/>
          </a:xfrm>
          <a:prstGeom prst="rect">
            <a:avLst/>
          </a:prstGeom>
          <a:solidFill>
            <a:srgbClr val="F34F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120390" y="3136392"/>
            <a:ext cx="17145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34F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30% GROWTH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4834890" y="2999232"/>
            <a:ext cx="857250" cy="91440"/>
          </a:xfrm>
          <a:prstGeom prst="rect">
            <a:avLst/>
          </a:prstGeom>
          <a:solidFill>
            <a:srgbClr val="FF7A2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34890" y="3136392"/>
            <a:ext cx="85725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7A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15% LEGAL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5692140" y="2999232"/>
            <a:ext cx="571500" cy="91440"/>
          </a:xfrm>
          <a:prstGeom prst="rect">
            <a:avLst/>
          </a:prstGeom>
          <a:solidFill>
            <a:srgbClr val="31D69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92140" y="3136392"/>
            <a:ext cx="5943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1D6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10% CLOUD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36758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8D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42416" y="3621024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Activate production USDC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3401568" y="363931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External security review + launch readiness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334256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34FA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42416" y="427939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Prove seller demand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3401568" y="42976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 design partners • 10 paying sellers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4992624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7A2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42416" y="4937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repeatable scale</a:t>
            </a:r>
            <a:endParaRPr lang="en-US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3401568" y="49560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500 sellers • 50K monthly transactions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6812280" y="1920240"/>
            <a:ext cx="0" cy="3840480"/>
          </a:xfrm>
          <a:prstGeom prst="line">
            <a:avLst/>
          </a:prstGeom>
          <a:noFill/>
          <a:ln w="12700">
            <a:solidFill>
              <a:srgbClr val="292C36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242048" y="19202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50" dirty="0">
                <a:solidFill>
                  <a:srgbClr val="31D6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FOUNDERS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242048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7070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7187184" y="2432304"/>
            <a:ext cx="676656" cy="676656"/>
          </a:xfrm>
          <a:prstGeom prst="ellipse">
            <a:avLst/>
          </a:prstGeom>
          <a:solidFill>
            <a:srgbClr val="88B7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7187184" y="2532888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070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119872" y="239572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Pratham Ranka</a:t>
            </a:r>
            <a:endParaRPr lang="en-US" sz="2100" dirty="0"/>
          </a:p>
        </p:txBody>
      </p:sp>
      <p:sp>
        <p:nvSpPr>
          <p:cNvPr id="36" name="Text 33"/>
          <p:cNvSpPr txBox="1"/>
          <p:nvPr/>
        </p:nvSpPr>
        <p:spPr>
          <a:xfrm>
            <a:off x="8138160" y="276148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 direction • seller experience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commerce + platform systems</a:t>
            </a:r>
            <a:endParaRPr lang="en-US" sz="1350" dirty="0"/>
          </a:p>
        </p:txBody>
      </p:sp>
      <p:sp>
        <p:nvSpPr>
          <p:cNvPr id="37" name="Shape 34"/>
          <p:cNvSpPr/>
          <p:nvPr/>
        </p:nvSpPr>
        <p:spPr>
          <a:xfrm>
            <a:off x="7187184" y="3822192"/>
            <a:ext cx="676656" cy="676656"/>
          </a:xfrm>
          <a:prstGeom prst="ellipse">
            <a:avLst/>
          </a:prstGeom>
          <a:solidFill>
            <a:srgbClr val="F34FA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187184" y="3922776"/>
            <a:ext cx="676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070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</a:t>
            </a:r>
            <a:endParaRPr lang="en-US" sz="1600" dirty="0"/>
          </a:p>
        </p:txBody>
      </p:sp>
      <p:sp>
        <p:nvSpPr>
          <p:cNvPr id="39" name="Text 36"/>
          <p:cNvSpPr txBox="1"/>
          <p:nvPr/>
        </p:nvSpPr>
        <p:spPr>
          <a:xfrm>
            <a:off x="8119872" y="37856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6F4E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Ayush Garg</a:t>
            </a:r>
            <a:endParaRPr lang="en-US" sz="2100" dirty="0"/>
          </a:p>
        </p:txBody>
      </p:sp>
      <p:sp>
        <p:nvSpPr>
          <p:cNvPr id="40" name="Text 37"/>
          <p:cNvSpPr txBox="1"/>
          <p:nvPr/>
        </p:nvSpPr>
        <p:spPr>
          <a:xfrm>
            <a:off x="8138160" y="415137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Application foundations • integrations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999DA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production delivery</a:t>
            </a:r>
            <a:endParaRPr lang="en-US" sz="1350" dirty="0"/>
          </a:p>
        </p:txBody>
      </p:sp>
      <p:sp>
        <p:nvSpPr>
          <p:cNvPr id="41" name="Shape 38"/>
          <p:cNvSpPr/>
          <p:nvPr/>
        </p:nvSpPr>
        <p:spPr>
          <a:xfrm>
            <a:off x="7205472" y="5065776"/>
            <a:ext cx="4160520" cy="612648"/>
          </a:xfrm>
          <a:prstGeom prst="roundRect">
            <a:avLst>
              <a:gd name="adj" fmla="val 11940"/>
            </a:avLst>
          </a:prstGeom>
          <a:solidFill>
            <a:srgbClr val="10221C"/>
          </a:solidFill>
          <a:ln w="13970">
            <a:solidFill>
              <a:srgbClr val="31D69B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7424928" y="5248656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31D69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 THE CHECKOUT LAYER FOR AI AGENTS</a:t>
            </a:r>
            <a:endParaRPr lang="en-US" sz="1250" dirty="0"/>
          </a:p>
        </p:txBody>
      </p:sp>
      <p:sp>
        <p:nvSpPr>
          <p:cNvPr id="43" name="Text 40"/>
          <p:cNvSpPr txBox="1"/>
          <p:nvPr/>
        </p:nvSpPr>
        <p:spPr>
          <a:xfrm>
            <a:off x="7205472" y="5879592"/>
            <a:ext cx="4251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368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pranka0789@gmail.com  •  gargayush1911@gmail.com</a:t>
            </a:r>
            <a:endParaRPr lang="en-US" sz="9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6236208"/>
            <a:ext cx="10378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636875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Targets are forward-looking. Founder roles and product scope are sourced from the AgentPay repository.</a:t>
            </a:r>
            <a:endParaRPr lang="en-US" sz="7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5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8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8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8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nrop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604</Words>
  <Application>Microsoft Office PowerPoint</Application>
  <PresentationFormat>Widescreen</PresentationFormat>
  <Paragraphs>164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Manrope</vt:lpstr>
      <vt:lpstr>Arial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AgentPay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AgentPay — The checkout layer for AI agents</dc:title>
  <dc:subject>AgentPay pre-seed investor deck</dc:subject>
  <dc:creator>AgentPay</dc:creator>
  <cp:lastModifiedBy>Pratham Ranka</cp:lastModifiedBy>
  <cp:revision>2</cp:revision>
  <dcterms:created xsi:type="dcterms:W3CDTF">2026-09-21T17:03:21Z</dcterms:created>
  <dcterms:modified xsi:type="dcterms:W3CDTF">2026-09-21T17:03:46Z</dcterms:modified>
</cp:coreProperties>
</file>